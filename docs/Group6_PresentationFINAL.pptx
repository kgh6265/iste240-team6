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20"/>
    <p:restoredTop sz="94610"/>
  </p:normalViewPr>
  <p:slideViewPr>
    <p:cSldViewPr snapToGrid="0" snapToObjects="1">
      <p:cViewPr varScale="1">
        <p:scale>
          <a:sx n="167" d="100"/>
          <a:sy n="167" d="100"/>
        </p:scale>
        <p:origin x="168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93765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kgh6265/iste240-team6.git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2B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6B4F35"/>
          </a:solidFill>
          <a:ln w="12700">
            <a:solidFill>
              <a:srgbClr val="6B4F3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502920" y="0"/>
            <a:ext cx="109728" cy="514350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914400" y="100584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🎓 StudentPulse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914400" y="19659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i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Event Management Platform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14400" y="254203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8DE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ISTE 240 – Web and Mobile II  |  Spring 2026  |  Group 6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32461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Aditya Avinash  –  761005899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359359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Khaleel Hassan  –  412002594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941064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 Bhatia  –  400003132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45720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B8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Rochester Institute of Technology – Dubai  |  April 26,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OUTLINE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We'll Cover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3977640" cy="658368"/>
          </a:xfrm>
          <a:prstGeom prst="rect">
            <a:avLst/>
          </a:prstGeom>
          <a:solidFill>
            <a:srgbClr val="FDFAF5"/>
          </a:solidFill>
          <a:ln w="15240">
            <a:solidFill>
              <a:srgbClr val="E8DECE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5" name="Text 3"/>
          <p:cNvSpPr/>
          <p:nvPr/>
        </p:nvSpPr>
        <p:spPr>
          <a:xfrm>
            <a:off x="640080" y="1399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138074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Solution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88720" y="1655064"/>
            <a:ext cx="3154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StudentPulse and what it solves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2130552"/>
            <a:ext cx="3977640" cy="658368"/>
          </a:xfrm>
          <a:prstGeom prst="rect">
            <a:avLst/>
          </a:prstGeom>
          <a:solidFill>
            <a:srgbClr val="FDFAF5"/>
          </a:solidFill>
          <a:ln w="15240">
            <a:solidFill>
              <a:srgbClr val="E8DECE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9" name="Text 7"/>
          <p:cNvSpPr/>
          <p:nvPr/>
        </p:nvSpPr>
        <p:spPr>
          <a:xfrm>
            <a:off x="640080" y="22037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88720" y="218541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&amp; Architecture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88720" y="2459736"/>
            <a:ext cx="3154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Boot, MariaDB, Bootstrap 5, jQuery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2935224"/>
            <a:ext cx="3977640" cy="658368"/>
          </a:xfrm>
          <a:prstGeom prst="rect">
            <a:avLst/>
          </a:prstGeom>
          <a:solidFill>
            <a:srgbClr val="FDFAF5"/>
          </a:solidFill>
          <a:ln w="15240">
            <a:solidFill>
              <a:srgbClr val="E8DECE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3" name="Text 11"/>
          <p:cNvSpPr/>
          <p:nvPr/>
        </p:nvSpPr>
        <p:spPr>
          <a:xfrm>
            <a:off x="640080" y="30083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88720" y="299008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Module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88720" y="3264408"/>
            <a:ext cx="3154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Aditya Avinash  Entity, API, Frontend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3739896"/>
            <a:ext cx="3977640" cy="658368"/>
          </a:xfrm>
          <a:prstGeom prst="rect">
            <a:avLst/>
          </a:prstGeom>
          <a:solidFill>
            <a:srgbClr val="FDFAF5"/>
          </a:solidFill>
          <a:ln w="15240">
            <a:solidFill>
              <a:srgbClr val="E8DECE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7" name="Text 15"/>
          <p:cNvSpPr/>
          <p:nvPr/>
        </p:nvSpPr>
        <p:spPr>
          <a:xfrm>
            <a:off x="640080" y="3813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88720" y="379476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Module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88720" y="4069080"/>
            <a:ext cx="3154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 Bhatia  Entity, API, Frontend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0" y="1325880"/>
            <a:ext cx="3977640" cy="658368"/>
          </a:xfrm>
          <a:prstGeom prst="rect">
            <a:avLst/>
          </a:prstGeom>
          <a:solidFill>
            <a:srgbClr val="FDFAF5"/>
          </a:solidFill>
          <a:ln w="15240">
            <a:solidFill>
              <a:srgbClr val="E8DECE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1" name="Text 19"/>
          <p:cNvSpPr/>
          <p:nvPr/>
        </p:nvSpPr>
        <p:spPr>
          <a:xfrm>
            <a:off x="4983480" y="1399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532120" y="138074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Module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532120" y="1655064"/>
            <a:ext cx="3154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Khaleel Hassan Entity, API, Frontend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2130552"/>
            <a:ext cx="3977640" cy="658368"/>
          </a:xfrm>
          <a:prstGeom prst="rect">
            <a:avLst/>
          </a:prstGeom>
          <a:solidFill>
            <a:srgbClr val="FDFAF5"/>
          </a:solidFill>
          <a:ln w="15240">
            <a:solidFill>
              <a:srgbClr val="E8DECE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5" name="Text 23"/>
          <p:cNvSpPr/>
          <p:nvPr/>
        </p:nvSpPr>
        <p:spPr>
          <a:xfrm>
            <a:off x="4983480" y="22037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532120" y="218541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&amp; API Docs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532120" y="2459736"/>
            <a:ext cx="3154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Schema, REST endpoints, Git workflow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46320" y="2935224"/>
            <a:ext cx="3977640" cy="658368"/>
          </a:xfrm>
          <a:prstGeom prst="rect">
            <a:avLst/>
          </a:prstGeom>
          <a:solidFill>
            <a:srgbClr val="FDFAF5"/>
          </a:solidFill>
          <a:ln w="15240">
            <a:solidFill>
              <a:srgbClr val="E8DECE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9" name="Text 27"/>
          <p:cNvSpPr/>
          <p:nvPr/>
        </p:nvSpPr>
        <p:spPr>
          <a:xfrm>
            <a:off x="4983480" y="30083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532120" y="299008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532120" y="3264408"/>
            <a:ext cx="3154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walkthrough of the working application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D2B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&amp; Solution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840480" cy="3291840"/>
          </a:xfrm>
          <a:prstGeom prst="rect">
            <a:avLst/>
          </a:prstGeom>
          <a:solidFill>
            <a:srgbClr val="6B4F35"/>
          </a:solidFill>
          <a:ln w="1524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193852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proposals sent via WhatsApp &amp; email no visibility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551176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tracking of peer interest or support counts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3163824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structured admin review decisions are informal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77647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have no feedback loop on their proposals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280160"/>
            <a:ext cx="3840480" cy="3291840"/>
          </a:xfrm>
          <a:prstGeom prst="rect">
            <a:avLst/>
          </a:prstGeom>
          <a:solidFill>
            <a:srgbClr val="6B4F35"/>
          </a:solidFill>
          <a:ln w="1524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" name="Text 9"/>
          <p:cNvSpPr/>
          <p:nvPr/>
        </p:nvSpPr>
        <p:spPr>
          <a:xfrm>
            <a:off x="4846320" y="1417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StudentPulse Solution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846320" y="193852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portal for student-driven event proposals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0" y="2551176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model: proposal auto-advances on sufficient support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3163824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CRUD for Students, Events, and Comments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377647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workflow with full audit trail via REST API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4727448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Replacing informal channels with a transparent, threshold-based digital workflow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OVERVIEW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 Stack &amp; Architecture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8229600" cy="640080"/>
          </a:xfrm>
          <a:prstGeom prst="rect">
            <a:avLst/>
          </a:prstGeom>
          <a:solidFill>
            <a:srgbClr val="FDFAF5"/>
          </a:solidFill>
          <a:ln w="15240">
            <a:solidFill>
              <a:srgbClr val="E8DECE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5" name="Text 3"/>
          <p:cNvSpPr/>
          <p:nvPr/>
        </p:nvSpPr>
        <p:spPr>
          <a:xfrm>
            <a:off x="566928" y="149047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🖥️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3000" y="149047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43000" y="1746504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 •  Bootstrap 5.3  •  jQuery 3.7.1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73152" cy="64008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8229600" cy="640080"/>
          </a:xfrm>
          <a:prstGeom prst="rect">
            <a:avLst/>
          </a:prstGeom>
          <a:solidFill>
            <a:srgbClr val="FDFAF5"/>
          </a:solidFill>
          <a:ln w="15240">
            <a:solidFill>
              <a:srgbClr val="E8DECE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0" name="Text 8"/>
          <p:cNvSpPr/>
          <p:nvPr/>
        </p:nvSpPr>
        <p:spPr>
          <a:xfrm>
            <a:off x="566928" y="226771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143000" y="226771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43000" y="2523744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21  •  Spring Boot 3.2.5  •  REST APIs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194560"/>
            <a:ext cx="73152" cy="64008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4" name="Shape 12"/>
          <p:cNvSpPr/>
          <p:nvPr/>
        </p:nvSpPr>
        <p:spPr>
          <a:xfrm>
            <a:off x="457200" y="2971800"/>
            <a:ext cx="8229600" cy="640080"/>
          </a:xfrm>
          <a:prstGeom prst="rect">
            <a:avLst/>
          </a:prstGeom>
          <a:solidFill>
            <a:srgbClr val="FDFAF5"/>
          </a:solidFill>
          <a:ln w="15240">
            <a:solidFill>
              <a:srgbClr val="E8DECE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5" name="Text 13"/>
          <p:cNvSpPr/>
          <p:nvPr/>
        </p:nvSpPr>
        <p:spPr>
          <a:xfrm>
            <a:off x="566928" y="304495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🗄️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143000" y="304495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43000" y="3300984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 JPA  •  Hibernate 6.4  •  MariaDB 12.1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2971800"/>
            <a:ext cx="73152" cy="64008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9" name="Shape 17"/>
          <p:cNvSpPr/>
          <p:nvPr/>
        </p:nvSpPr>
        <p:spPr>
          <a:xfrm>
            <a:off x="457200" y="3749040"/>
            <a:ext cx="8229600" cy="640080"/>
          </a:xfrm>
          <a:prstGeom prst="rect">
            <a:avLst/>
          </a:prstGeom>
          <a:solidFill>
            <a:srgbClr val="FDFAF5"/>
          </a:solidFill>
          <a:ln w="15240">
            <a:solidFill>
              <a:srgbClr val="E8DECE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0" name="Text 18"/>
          <p:cNvSpPr/>
          <p:nvPr/>
        </p:nvSpPr>
        <p:spPr>
          <a:xfrm>
            <a:off x="566928" y="382219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🛠️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143000" y="382219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Tools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43000" y="4078224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Maven  •  IntelliJ IDEA  •  Git / GitHub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749040"/>
            <a:ext cx="73152" cy="64008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4" name="Text 22"/>
          <p:cNvSpPr/>
          <p:nvPr/>
        </p:nvSpPr>
        <p:spPr>
          <a:xfrm>
            <a:off x="502920" y="45720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 Flow: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783080" y="4535424"/>
            <a:ext cx="1005840" cy="329184"/>
          </a:xfrm>
          <a:prstGeom prst="rect">
            <a:avLst/>
          </a:prstGeom>
          <a:solidFill>
            <a:srgbClr val="3D2B1F"/>
          </a:solidFill>
          <a:ln w="127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6" name="Text 24"/>
          <p:cNvSpPr/>
          <p:nvPr/>
        </p:nvSpPr>
        <p:spPr>
          <a:xfrm>
            <a:off x="1783080" y="453542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788920" y="4562856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9A96E"/>
                </a:solidFill>
              </a:rPr>
              <a:t>→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017520" y="4535424"/>
            <a:ext cx="1005840" cy="329184"/>
          </a:xfrm>
          <a:prstGeom prst="rect">
            <a:avLst/>
          </a:prstGeom>
          <a:solidFill>
            <a:srgbClr val="6B4F35"/>
          </a:solidFill>
          <a:ln w="127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9" name="Text 27"/>
          <p:cNvSpPr/>
          <p:nvPr/>
        </p:nvSpPr>
        <p:spPr>
          <a:xfrm>
            <a:off x="3017520" y="453542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jQuery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023360" y="4562856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9A96E"/>
                </a:solidFill>
              </a:rPr>
              <a:t>→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251960" y="4535424"/>
            <a:ext cx="1005840" cy="329184"/>
          </a:xfrm>
          <a:prstGeom prst="rect">
            <a:avLst/>
          </a:prstGeom>
          <a:solidFill>
            <a:srgbClr val="6B4F35"/>
          </a:solidFill>
          <a:ln w="127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2" name="Text 30"/>
          <p:cNvSpPr/>
          <p:nvPr/>
        </p:nvSpPr>
        <p:spPr>
          <a:xfrm>
            <a:off x="4251960" y="453542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257800" y="4562856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9A96E"/>
                </a:solidFill>
              </a:rPr>
              <a:t>→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486400" y="4535424"/>
            <a:ext cx="1005840" cy="329184"/>
          </a:xfrm>
          <a:prstGeom prst="rect">
            <a:avLst/>
          </a:prstGeom>
          <a:solidFill>
            <a:srgbClr val="6B4F35"/>
          </a:solidFill>
          <a:ln w="127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5" name="Text 33"/>
          <p:cNvSpPr/>
          <p:nvPr/>
        </p:nvSpPr>
        <p:spPr>
          <a:xfrm>
            <a:off x="5486400" y="453542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492240" y="4562856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9A96E"/>
                </a:solidFill>
              </a:rPr>
              <a:t>→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720840" y="4535424"/>
            <a:ext cx="1005840" cy="329184"/>
          </a:xfrm>
          <a:prstGeom prst="rect">
            <a:avLst/>
          </a:prstGeom>
          <a:solidFill>
            <a:srgbClr val="6B4F35"/>
          </a:solidFill>
          <a:ln w="127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8" name="Text 36"/>
          <p:cNvSpPr/>
          <p:nvPr/>
        </p:nvSpPr>
        <p:spPr>
          <a:xfrm>
            <a:off x="6720840" y="453542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726680" y="4562856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9A96E"/>
                </a:solidFill>
              </a:rPr>
              <a:t>→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955280" y="4535424"/>
            <a:ext cx="1005840" cy="329184"/>
          </a:xfrm>
          <a:prstGeom prst="rect">
            <a:avLst/>
          </a:prstGeom>
          <a:solidFill>
            <a:srgbClr val="3D2B1F"/>
          </a:solidFill>
          <a:ln w="127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1" name="Text 39"/>
          <p:cNvSpPr/>
          <p:nvPr/>
        </p:nvSpPr>
        <p:spPr>
          <a:xfrm>
            <a:off x="7955280" y="453542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MariaDB</a:t>
            </a:r>
            <a:endParaRPr lang="en-US" sz="900" dirty="0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3E0E475D-A485-4A08-E019-50E0062DF4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4385" y="1421892"/>
            <a:ext cx="4262415" cy="294563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ADITYA AVINASH – 761005899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 Module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583680" y="548640"/>
            <a:ext cx="2011680" cy="457200"/>
          </a:xfrm>
          <a:prstGeom prst="rect">
            <a:avLst/>
          </a:prstGeom>
          <a:solidFill>
            <a:srgbClr val="3D2B1F"/>
          </a:solidFill>
          <a:ln w="127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" name="Text 3"/>
          <p:cNvSpPr/>
          <p:nvPr/>
        </p:nvSpPr>
        <p:spPr>
          <a:xfrm>
            <a:off x="6583680" y="5486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Aditya Avinash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4892040" cy="594360"/>
          </a:xfrm>
          <a:prstGeom prst="rect">
            <a:avLst/>
          </a:prstGeom>
          <a:solidFill>
            <a:srgbClr val="FDFAF5"/>
          </a:solidFill>
          <a:ln w="15240">
            <a:solidFill>
              <a:srgbClr val="E8DEC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64008" cy="59436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Student.java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6002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 entity mapped to students table; fields: id, ritId, name, email, active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1993392"/>
            <a:ext cx="4892040" cy="594360"/>
          </a:xfrm>
          <a:prstGeom prst="rect">
            <a:avLst/>
          </a:prstGeom>
          <a:solidFill>
            <a:srgbClr val="FDFAF5"/>
          </a:solidFill>
          <a:ln w="15240">
            <a:solidFill>
              <a:srgbClr val="E8DEC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" name="Shape 9"/>
          <p:cNvSpPr/>
          <p:nvPr/>
        </p:nvSpPr>
        <p:spPr>
          <a:xfrm>
            <a:off x="457200" y="1993392"/>
            <a:ext cx="64008" cy="59436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2" name="Text 10"/>
          <p:cNvSpPr/>
          <p:nvPr/>
        </p:nvSpPr>
        <p:spPr>
          <a:xfrm>
            <a:off x="640080" y="203911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StudentRepository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226771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JpaRepository; includes findByEmail, existsByEmail, searchByName (JPQL LIKE), updateActiveById (@Modifying)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660904"/>
            <a:ext cx="4892040" cy="594360"/>
          </a:xfrm>
          <a:prstGeom prst="rect">
            <a:avLst/>
          </a:prstGeom>
          <a:solidFill>
            <a:srgbClr val="FDFAF5"/>
          </a:solidFill>
          <a:ln w="15240">
            <a:solidFill>
              <a:srgbClr val="E8DEC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5" name="Shape 13"/>
          <p:cNvSpPr/>
          <p:nvPr/>
        </p:nvSpPr>
        <p:spPr>
          <a:xfrm>
            <a:off x="457200" y="2660904"/>
            <a:ext cx="64008" cy="59436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6" name="Text 14"/>
          <p:cNvSpPr/>
          <p:nvPr/>
        </p:nvSpPr>
        <p:spPr>
          <a:xfrm>
            <a:off x="640080" y="2706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StudentService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293522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Transactional service; validates name/email/ritId, prevents duplicate emails, delegates to repository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3328416"/>
            <a:ext cx="4892040" cy="594360"/>
          </a:xfrm>
          <a:prstGeom prst="rect">
            <a:avLst/>
          </a:prstGeom>
          <a:solidFill>
            <a:srgbClr val="FDFAF5"/>
          </a:solidFill>
          <a:ln w="15240">
            <a:solidFill>
              <a:srgbClr val="E8DEC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9" name="Shape 17"/>
          <p:cNvSpPr/>
          <p:nvPr/>
        </p:nvSpPr>
        <p:spPr>
          <a:xfrm>
            <a:off x="457200" y="3328416"/>
            <a:ext cx="64008" cy="59436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0" name="Text 18"/>
          <p:cNvSpPr/>
          <p:nvPr/>
        </p:nvSpPr>
        <p:spPr>
          <a:xfrm>
            <a:off x="640080" y="337413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StudentController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360273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@RestController on /api/students; all 6 HTTP endpoints with ResponseEntity returns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3995928"/>
            <a:ext cx="4892040" cy="594360"/>
          </a:xfrm>
          <a:prstGeom prst="rect">
            <a:avLst/>
          </a:prstGeom>
          <a:solidFill>
            <a:srgbClr val="FDFAF5"/>
          </a:solidFill>
          <a:ln w="15240">
            <a:solidFill>
              <a:srgbClr val="E8DEC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3" name="Shape 21"/>
          <p:cNvSpPr/>
          <p:nvPr/>
        </p:nvSpPr>
        <p:spPr>
          <a:xfrm>
            <a:off x="457200" y="3995928"/>
            <a:ext cx="64008" cy="59436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4" name="Text 22"/>
          <p:cNvSpPr/>
          <p:nvPr/>
        </p:nvSpPr>
        <p:spPr>
          <a:xfrm>
            <a:off x="640080" y="404164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StudentDataSeeder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42702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@PostConstruct seeds 5 students on first startup when table is empty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577840" y="1325880"/>
            <a:ext cx="3063240" cy="2834640"/>
          </a:xfrm>
          <a:prstGeom prst="rect">
            <a:avLst/>
          </a:prstGeom>
          <a:solidFill>
            <a:srgbClr val="3D2B1F"/>
          </a:solidFill>
          <a:ln w="1524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7" name="Text 25"/>
          <p:cNvSpPr/>
          <p:nvPr/>
        </p:nvSpPr>
        <p:spPr>
          <a:xfrm>
            <a:off x="5715000" y="14447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students.html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715000" y="1810512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name search table updates as you type (JPQL LIKE, no page reload)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715000" y="2313432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/ Edit modal Bootstrap 5 with pre-filled fields &amp; active toggle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715000" y="2816352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with confirmation dialog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715000" y="3319272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Toast notifications on every action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715000" y="3822192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/ Inactive badge per row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715000" y="4325112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hover highlighting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577840" y="4343400"/>
            <a:ext cx="3063240" cy="548640"/>
          </a:xfrm>
          <a:prstGeom prst="rect">
            <a:avLst/>
          </a:prstGeom>
          <a:solidFill>
            <a:srgbClr val="6B4F35"/>
          </a:solidFill>
          <a:ln w="1524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5" name="Text 33"/>
          <p:cNvSpPr/>
          <p:nvPr/>
        </p:nvSpPr>
        <p:spPr>
          <a:xfrm>
            <a:off x="5715000" y="440740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Also: Redesigned index.html landing page with beige theme, Browse &amp; Quick Add nav cards, and consistent dark-brown navbar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 BHATIA – 400003132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Event Module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583680" y="548640"/>
            <a:ext cx="2011680" cy="457200"/>
          </a:xfrm>
          <a:prstGeom prst="rect">
            <a:avLst/>
          </a:prstGeom>
          <a:solidFill>
            <a:srgbClr val="3D2B1F"/>
          </a:solidFill>
          <a:ln w="127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" name="Text 3"/>
          <p:cNvSpPr/>
          <p:nvPr/>
        </p:nvSpPr>
        <p:spPr>
          <a:xfrm>
            <a:off x="6583680" y="5486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 Bhatia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4892040" cy="594360"/>
          </a:xfrm>
          <a:prstGeom prst="rect">
            <a:avLst/>
          </a:prstGeom>
          <a:solidFill>
            <a:srgbClr val="FDFAF5"/>
          </a:solidFill>
          <a:ln w="15240">
            <a:solidFill>
              <a:srgbClr val="E8DEC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64008" cy="59436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Event.java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6002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 entity mapped to events table; fields: id (BIGINT PK), title (VARCHAR 150), description (TEXT), category (VARCHAR 50), status (VARCHAR 30), supportCount (INT default 0)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1993392"/>
            <a:ext cx="4892040" cy="594360"/>
          </a:xfrm>
          <a:prstGeom prst="rect">
            <a:avLst/>
          </a:prstGeom>
          <a:solidFill>
            <a:srgbClr val="FDFAF5"/>
          </a:solidFill>
          <a:ln w="15240">
            <a:solidFill>
              <a:srgbClr val="E8DEC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" name="Shape 9"/>
          <p:cNvSpPr/>
          <p:nvPr/>
        </p:nvSpPr>
        <p:spPr>
          <a:xfrm>
            <a:off x="457200" y="1993392"/>
            <a:ext cx="64008" cy="59436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2" name="Text 10"/>
          <p:cNvSpPr/>
          <p:nvPr/>
        </p:nvSpPr>
        <p:spPr>
          <a:xfrm>
            <a:off x="640080" y="203911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EventRepository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226771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JpaRepository&lt;Event, Long&gt;; methods: findByCategory, findByStatus, searchByTitle (JPQL LIKE), updateStatusById (@Modifying @Query), deleteById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660904"/>
            <a:ext cx="4892040" cy="594360"/>
          </a:xfrm>
          <a:prstGeom prst="rect">
            <a:avLst/>
          </a:prstGeom>
          <a:solidFill>
            <a:srgbClr val="FDFAF5"/>
          </a:solidFill>
          <a:ln w="15240">
            <a:solidFill>
              <a:srgbClr val="E8DEC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5" name="Shape 13"/>
          <p:cNvSpPr/>
          <p:nvPr/>
        </p:nvSpPr>
        <p:spPr>
          <a:xfrm>
            <a:off x="457200" y="2660904"/>
            <a:ext cx="64008" cy="59436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6" name="Text 14"/>
          <p:cNvSpPr/>
          <p:nvPr/>
        </p:nvSpPr>
        <p:spPr>
          <a:xfrm>
            <a:off x="640080" y="2706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EventService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293522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@Transactional service; validates title/category/status not empty, delegates to repository, throws IllegalArgumentException on bad input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3328416"/>
            <a:ext cx="4892040" cy="594360"/>
          </a:xfrm>
          <a:prstGeom prst="rect">
            <a:avLst/>
          </a:prstGeom>
          <a:solidFill>
            <a:srgbClr val="FDFAF5"/>
          </a:solidFill>
          <a:ln w="15240">
            <a:solidFill>
              <a:srgbClr val="E8DEC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9" name="Shape 17"/>
          <p:cNvSpPr/>
          <p:nvPr/>
        </p:nvSpPr>
        <p:spPr>
          <a:xfrm>
            <a:off x="457200" y="3328416"/>
            <a:ext cx="64008" cy="59436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0" name="Text 18"/>
          <p:cNvSpPr/>
          <p:nvPr/>
        </p:nvSpPr>
        <p:spPr>
          <a:xfrm>
            <a:off x="640080" y="337413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EventController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360273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@RestController on /api/events; all 6 HTTP methods returning ResponseEntity — GET all, GET/{id}, GET /search?title=, POST, PUT/{id}, DELETE/{id}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3995928"/>
            <a:ext cx="4892040" cy="594360"/>
          </a:xfrm>
          <a:prstGeom prst="rect">
            <a:avLst/>
          </a:prstGeom>
          <a:solidFill>
            <a:srgbClr val="FDFAF5"/>
          </a:solidFill>
          <a:ln w="15240">
            <a:solidFill>
              <a:srgbClr val="E8DEC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3" name="Shape 21"/>
          <p:cNvSpPr/>
          <p:nvPr/>
        </p:nvSpPr>
        <p:spPr>
          <a:xfrm>
            <a:off x="457200" y="3995928"/>
            <a:ext cx="64008" cy="59436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4" name="Text 22"/>
          <p:cNvSpPr/>
          <p:nvPr/>
        </p:nvSpPr>
        <p:spPr>
          <a:xfrm>
            <a:off x="640080" y="404164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events.html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42702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 + jQuery; table with title, category, status badge, support count; Add/Edit modal; real-time title search; delete confirmation; toast notifications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577840" y="1325880"/>
            <a:ext cx="3063240" cy="2834640"/>
          </a:xfrm>
          <a:prstGeom prst="rect">
            <a:avLst/>
          </a:prstGeom>
          <a:solidFill>
            <a:srgbClr val="3D2B1F"/>
          </a:solidFill>
          <a:ln w="1524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7" name="Text 25"/>
          <p:cNvSpPr/>
          <p:nvPr/>
        </p:nvSpPr>
        <p:spPr>
          <a:xfrm>
            <a:off x="5715000" y="14447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events.html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715000" y="1810512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title search JPQL LIKE, table refreshes on input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715000" y="2313432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badges: PENDING (grey), IN_PROGRESS (brown), APPROVED (green)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715000" y="2816352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/ Edit modal with category dropdown and status selector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715000" y="3319272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count displayed per event row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715000" y="3822192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confirmation dialog + toast feedback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715000" y="4325112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filter integrated into search bar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577840" y="4343400"/>
            <a:ext cx="3063240" cy="548640"/>
          </a:xfrm>
          <a:prstGeom prst="rect">
            <a:avLst/>
          </a:prstGeom>
          <a:solidFill>
            <a:srgbClr val="6B4F35"/>
          </a:solidFill>
          <a:ln w="1524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5" name="Text 33"/>
          <p:cNvSpPr/>
          <p:nvPr/>
        </p:nvSpPr>
        <p:spPr>
          <a:xfrm>
            <a:off x="5715000" y="440740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model: events auto-advance from PENDING -&gt; IN_PROGRESS once support count reaches the configured threshold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KHALEEL HASSAN – 412002594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Comment Module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583680" y="548640"/>
            <a:ext cx="2011680" cy="457200"/>
          </a:xfrm>
          <a:prstGeom prst="rect">
            <a:avLst/>
          </a:prstGeom>
          <a:solidFill>
            <a:srgbClr val="3D2B1F"/>
          </a:solidFill>
          <a:ln w="127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" name="Text 3"/>
          <p:cNvSpPr/>
          <p:nvPr/>
        </p:nvSpPr>
        <p:spPr>
          <a:xfrm>
            <a:off x="6583680" y="5486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Khaleel Hassan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4892040" cy="594360"/>
          </a:xfrm>
          <a:prstGeom prst="rect">
            <a:avLst/>
          </a:prstGeom>
          <a:solidFill>
            <a:srgbClr val="FDFAF5"/>
          </a:solidFill>
          <a:ln w="15240">
            <a:solidFill>
              <a:srgbClr val="E8DEC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64008" cy="59436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Comment.java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6002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 entity mapped to comments table; fields: id (BIGINT PK), eventId (VARCHAR 20), studentId (VARCHAR 20), content (TEXT NOT NULL)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1993392"/>
            <a:ext cx="4892040" cy="594360"/>
          </a:xfrm>
          <a:prstGeom prst="rect">
            <a:avLst/>
          </a:prstGeom>
          <a:solidFill>
            <a:srgbClr val="FDFAF5"/>
          </a:solidFill>
          <a:ln w="15240">
            <a:solidFill>
              <a:srgbClr val="E8DEC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" name="Shape 9"/>
          <p:cNvSpPr/>
          <p:nvPr/>
        </p:nvSpPr>
        <p:spPr>
          <a:xfrm>
            <a:off x="457200" y="1993392"/>
            <a:ext cx="64008" cy="59436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2" name="Text 10"/>
          <p:cNvSpPr/>
          <p:nvPr/>
        </p:nvSpPr>
        <p:spPr>
          <a:xfrm>
            <a:off x="640080" y="203911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CommentRepository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226771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JpaRepository&lt;Comment, Long&gt;; methods: findByEventId, findByStudentId, searchByContent (JPQL LIKE), updateContentById (@Modifying @Query), deleteById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660904"/>
            <a:ext cx="4892040" cy="594360"/>
          </a:xfrm>
          <a:prstGeom prst="rect">
            <a:avLst/>
          </a:prstGeom>
          <a:solidFill>
            <a:srgbClr val="FDFAF5"/>
          </a:solidFill>
          <a:ln w="15240">
            <a:solidFill>
              <a:srgbClr val="E8DEC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5" name="Shape 13"/>
          <p:cNvSpPr/>
          <p:nvPr/>
        </p:nvSpPr>
        <p:spPr>
          <a:xfrm>
            <a:off x="457200" y="2660904"/>
            <a:ext cx="64008" cy="59436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6" name="Text 14"/>
          <p:cNvSpPr/>
          <p:nvPr/>
        </p:nvSpPr>
        <p:spPr>
          <a:xfrm>
            <a:off x="640080" y="27066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CommentService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293522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@Transactional service; validates content/eventId/studentId not empty; throws IllegalArgumentException on missing fields; delegates to repository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3328416"/>
            <a:ext cx="4892040" cy="594360"/>
          </a:xfrm>
          <a:prstGeom prst="rect">
            <a:avLst/>
          </a:prstGeom>
          <a:solidFill>
            <a:srgbClr val="FDFAF5"/>
          </a:solidFill>
          <a:ln w="15240">
            <a:solidFill>
              <a:srgbClr val="E8DEC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9" name="Shape 17"/>
          <p:cNvSpPr/>
          <p:nvPr/>
        </p:nvSpPr>
        <p:spPr>
          <a:xfrm>
            <a:off x="457200" y="3328416"/>
            <a:ext cx="64008" cy="59436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0" name="Text 18"/>
          <p:cNvSpPr/>
          <p:nvPr/>
        </p:nvSpPr>
        <p:spPr>
          <a:xfrm>
            <a:off x="640080" y="337413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CommentController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360273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@RestController on /api/comments; all 6 HTTP methods GET all, GET/{id}, GET /search?content=, POST, PUT/{id}, DELETE/{id} with ResponseEntity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3995928"/>
            <a:ext cx="4892040" cy="594360"/>
          </a:xfrm>
          <a:prstGeom prst="rect">
            <a:avLst/>
          </a:prstGeom>
          <a:solidFill>
            <a:srgbClr val="FDFAF5"/>
          </a:solidFill>
          <a:ln w="15240">
            <a:solidFill>
              <a:srgbClr val="E8DEC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3" name="Shape 21"/>
          <p:cNvSpPr/>
          <p:nvPr/>
        </p:nvSpPr>
        <p:spPr>
          <a:xfrm>
            <a:off x="457200" y="3995928"/>
            <a:ext cx="64008" cy="59436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4" name="Text 22"/>
          <p:cNvSpPr/>
          <p:nvPr/>
        </p:nvSpPr>
        <p:spPr>
          <a:xfrm>
            <a:off x="640080" y="404164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comments.html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42702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 + jQuery; table showing event ID, student ID, content snippet; Add/Edit modal; real-time content search; delete confirmation; toast notifications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577840" y="1325880"/>
            <a:ext cx="3063240" cy="2834640"/>
          </a:xfrm>
          <a:prstGeom prst="rect">
            <a:avLst/>
          </a:prstGeom>
          <a:solidFill>
            <a:srgbClr val="3D2B1F"/>
          </a:solidFill>
          <a:ln w="1524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7" name="Text 25"/>
          <p:cNvSpPr/>
          <p:nvPr/>
        </p:nvSpPr>
        <p:spPr>
          <a:xfrm>
            <a:off x="5715000" y="14447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comments.html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715000" y="1810512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content search JPQL LIKE, no page reload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715000" y="2313432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shows event ID, student ID, and comment preview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715000" y="2816352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/ Edit modal with event &amp; student ID inputs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715000" y="3319272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comments by event dropdown linked to events API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715000" y="3822192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with confirmation dialog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715000" y="4325112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Toast notifications on every CRUD action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577840" y="4343400"/>
            <a:ext cx="3063240" cy="548640"/>
          </a:xfrm>
          <a:prstGeom prst="rect">
            <a:avLst/>
          </a:prstGeom>
          <a:solidFill>
            <a:srgbClr val="6B4F35"/>
          </a:solidFill>
          <a:ln w="1524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5" name="Text 33"/>
          <p:cNvSpPr/>
          <p:nvPr/>
        </p:nvSpPr>
        <p:spPr>
          <a:xfrm>
            <a:off x="5715000" y="440740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Also: Merge Manager reviewed &amp; merged all feature branches into main via GitHub pull requests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 Schema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students  (Aditya Avinash)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27632"/>
          <a:ext cx="3840480" cy="146304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Column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2B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2B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Notes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2B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D2B1F"/>
                          </a:solidFill>
                        </a:rPr>
                        <a:t>id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D2B1F"/>
                          </a:solidFill>
                        </a:rPr>
                        <a:t>BIGINT PK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D2B1F"/>
                          </a:solidFill>
                        </a:rPr>
                        <a:t>Auto-increment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D2B1F"/>
                          </a:solidFill>
                        </a:rPr>
                        <a:t>rit_id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D2B1F"/>
                          </a:solidFill>
                        </a:rPr>
                        <a:t>VARCHAR(20)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D2B1F"/>
                          </a:solidFill>
                        </a:rPr>
                        <a:t>Unique, NOT NULL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D2B1F"/>
                          </a:solidFill>
                        </a:rPr>
                        <a:t>name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D2B1F"/>
                          </a:solidFill>
                        </a:rPr>
                        <a:t>VARCHAR(100)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D2B1F"/>
                          </a:solidFill>
                        </a:rPr>
                        <a:t>NOT NULL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D2B1F"/>
                          </a:solidFill>
                        </a:rPr>
                        <a:t>email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D2B1F"/>
                          </a:solidFill>
                        </a:rPr>
                        <a:t>VARCHAR(100)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D2B1F"/>
                          </a:solidFill>
                        </a:rPr>
                        <a:t>Unique, NOT NULL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D2B1F"/>
                          </a:solidFill>
                        </a:rPr>
                        <a:t>active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D2B1F"/>
                          </a:solidFill>
                        </a:rPr>
                        <a:t>BIT(1)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D2B1F"/>
                          </a:solidFill>
                        </a:rPr>
                        <a:t>Default true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663440" y="12801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events  (Harsh Bhatia)</a:t>
            </a:r>
            <a:endParaRPr lang="en-US" sz="13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627632"/>
          <a:ext cx="3840480" cy="170688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Column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2B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2B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Notes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2B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D2B1F"/>
                          </a:solidFill>
                        </a:rPr>
                        <a:t>id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D2B1F"/>
                          </a:solidFill>
                        </a:rPr>
                        <a:t>BIGINT PK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D2B1F"/>
                          </a:solidFill>
                        </a:rPr>
                        <a:t>Auto-increment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D2B1F"/>
                          </a:solidFill>
                        </a:rPr>
                        <a:t>title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D2B1F"/>
                          </a:solidFill>
                        </a:rPr>
                        <a:t>VARCHAR(150)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D2B1F"/>
                          </a:solidFill>
                        </a:rPr>
                        <a:t>NOT NULL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D2B1F"/>
                          </a:solidFill>
                        </a:rPr>
                        <a:t>description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D2B1F"/>
                          </a:solidFill>
                        </a:rPr>
                        <a:t>TEXT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D2B1F"/>
                          </a:solidFill>
                        </a:rPr>
                        <a:t>Nullable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D2B1F"/>
                          </a:solidFill>
                        </a:rPr>
                        <a:t>category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D2B1F"/>
                          </a:solidFill>
                        </a:rPr>
                        <a:t>VARCHAR(50)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D2B1F"/>
                          </a:solidFill>
                        </a:rPr>
                        <a:t>NOT NULL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D2B1F"/>
                          </a:solidFill>
                        </a:rPr>
                        <a:t>status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D2B1F"/>
                          </a:solidFill>
                        </a:rPr>
                        <a:t>VARCHAR(30)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D2B1F"/>
                          </a:solidFill>
                        </a:rPr>
                        <a:t>Default PENDING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D2B1F"/>
                          </a:solidFill>
                        </a:rPr>
                        <a:t>support_count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D2B1F"/>
                          </a:solidFill>
                        </a:rPr>
                        <a:t>INT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D2B1F"/>
                          </a:solidFill>
                        </a:rPr>
                        <a:t>Default 0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457200" y="340156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comments  (Khaleel Hassan)</a:t>
            </a:r>
            <a:endParaRPr lang="en-US" sz="1300" dirty="0"/>
          </a:p>
        </p:txBody>
      </p:sp>
      <p:graphicFrame>
        <p:nvGraphicFramePr>
          <p:cNvPr id="2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749040"/>
          <a:ext cx="3840480" cy="121920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Column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2B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2B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Notes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2B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D2B1F"/>
                          </a:solidFill>
                        </a:rPr>
                        <a:t>id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D2B1F"/>
                          </a:solidFill>
                        </a:rPr>
                        <a:t>BIGINT PK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D2B1F"/>
                          </a:solidFill>
                        </a:rPr>
                        <a:t>Auto-increment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D2B1F"/>
                          </a:solidFill>
                        </a:rPr>
                        <a:t>event_id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D2B1F"/>
                          </a:solidFill>
                        </a:rPr>
                        <a:t>VARCHAR(20)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D2B1F"/>
                          </a:solidFill>
                        </a:rPr>
                        <a:t>NOT NULL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D2B1F"/>
                          </a:solidFill>
                        </a:rPr>
                        <a:t>student_id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D2B1F"/>
                          </a:solidFill>
                        </a:rPr>
                        <a:t>VARCHAR(20)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D2B1F"/>
                          </a:solidFill>
                        </a:rPr>
                        <a:t>NOT NULL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D2B1F"/>
                          </a:solidFill>
                        </a:rPr>
                        <a:t>content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D2B1F"/>
                          </a:solidFill>
                        </a:rPr>
                        <a:t>TEXT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D2B1F"/>
                          </a:solidFill>
                        </a:rPr>
                        <a:t>NOT NULL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8DE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 5"/>
          <p:cNvSpPr/>
          <p:nvPr/>
        </p:nvSpPr>
        <p:spPr>
          <a:xfrm>
            <a:off x="4663440" y="3401568"/>
            <a:ext cx="3840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iste240  •  Engine: MariaDB 12.1  •  Schema managed by Hibernate ddl-auto=update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3D2B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-10743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DOCUMENTATION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4436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REST API Endpoints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50615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/api/students  (Aditya)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2252885"/>
              </p:ext>
            </p:extLst>
          </p:nvPr>
        </p:nvGraphicFramePr>
        <p:xfrm>
          <a:off x="457201" y="763555"/>
          <a:ext cx="8082238" cy="1706880"/>
        </p:xfrm>
        <a:graphic>
          <a:graphicData uri="http://schemas.openxmlformats.org/drawingml/2006/table">
            <a:tbl>
              <a:tblPr/>
              <a:tblGrid>
                <a:gridCol w="808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52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78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309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5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Method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Endpoint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F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5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5F0E8"/>
                          </a:solidFill>
                        </a:rPr>
                        <a:t>GET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38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5F0E8"/>
                          </a:solidFill>
                        </a:rPr>
                        <a:t>/api/students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38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5F0E8"/>
                          </a:solidFill>
                        </a:rPr>
                        <a:t>200 OK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38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5F0E8"/>
                          </a:solidFill>
                        </a:rPr>
                        <a:t>Returns all students as JSON array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38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5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5F0E8"/>
                          </a:solidFill>
                        </a:rPr>
                        <a:t>GET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38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5F0E8"/>
                          </a:solidFill>
                        </a:rPr>
                        <a:t>/api/students/{id}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38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5F0E8"/>
                          </a:solidFill>
                        </a:rPr>
                        <a:t>200 / 404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38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5F0E8"/>
                          </a:solidFill>
                        </a:rPr>
                        <a:t>Returns single student by ID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38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5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5F0E8"/>
                          </a:solidFill>
                        </a:rPr>
                        <a:t>GET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38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5F0E8"/>
                          </a:solidFill>
                        </a:rPr>
                        <a:t>/api/students/search?name=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38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5F0E8"/>
                          </a:solidFill>
                        </a:rPr>
                        <a:t>200 OK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38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5F0E8"/>
                          </a:solidFill>
                        </a:rPr>
                        <a:t>Partial-match search via JPQL LIKE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38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5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5F0E8"/>
                          </a:solidFill>
                        </a:rPr>
                        <a:t>POST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38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5F0E8"/>
                          </a:solidFill>
                        </a:rPr>
                        <a:t>/api/students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38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5F0E8"/>
                          </a:solidFill>
                        </a:rPr>
                        <a:t>201 / 400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38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5F0E8"/>
                          </a:solidFill>
                        </a:rPr>
                        <a:t>Creates new student; validates fields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38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5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5F0E8"/>
                          </a:solidFill>
                        </a:rPr>
                        <a:t>PUT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38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5F0E8"/>
                          </a:solidFill>
                        </a:rPr>
                        <a:t>/api/students/{id}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38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5F0E8"/>
                          </a:solidFill>
                        </a:rPr>
                        <a:t>200 / 404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38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5F0E8"/>
                          </a:solidFill>
                        </a:rPr>
                        <a:t>Full update of existing student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38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51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5F0E8"/>
                          </a:solidFill>
                        </a:rPr>
                        <a:t>DELETE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38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5F0E8"/>
                          </a:solidFill>
                        </a:rPr>
                        <a:t>/api/students/{id}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38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5F0E8"/>
                          </a:solidFill>
                        </a:rPr>
                        <a:t>204 / 404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38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5F0E8"/>
                          </a:solidFill>
                        </a:rPr>
                        <a:t>Deletes student; 404 if not found</a:t>
                      </a:r>
                      <a:endParaRPr lang="en-US" sz="1000" dirty="0"/>
                    </a:p>
                  </a:txBody>
                  <a:tcPr>
                    <a:lnL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38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2449859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/api/events  (Harsh Bhatia)</a:t>
            </a:r>
            <a:endParaRPr lang="en-US" sz="12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1734894"/>
              </p:ext>
            </p:extLst>
          </p:nvPr>
        </p:nvGraphicFramePr>
        <p:xfrm>
          <a:off x="457200" y="2827141"/>
          <a:ext cx="3840480" cy="1874520"/>
        </p:xfrm>
        <a:graphic>
          <a:graphicData uri="http://schemas.openxmlformats.org/drawingml/2006/table">
            <a:tbl>
              <a:tblPr/>
              <a:tblGrid>
                <a:gridCol w="6583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47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Method</a:t>
                      </a:r>
                      <a:endParaRPr lang="en-US" sz="900" dirty="0"/>
                    </a:p>
                  </a:txBody>
                  <a:tcPr>
                    <a:lnL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Endpoint</a:t>
                      </a:r>
                      <a:endParaRPr lang="en-US" sz="900" dirty="0"/>
                    </a:p>
                  </a:txBody>
                  <a:tcPr>
                    <a:lnL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900" dirty="0"/>
                    </a:p>
                  </a:txBody>
                  <a:tcPr>
                    <a:lnL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900" dirty="0"/>
                    </a:p>
                  </a:txBody>
                  <a:tcPr>
                    <a:lnL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F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5F0E8"/>
                          </a:solidFill>
                        </a:rPr>
                        <a:t>GET</a:t>
                      </a:r>
                      <a:endParaRPr lang="en-US" sz="900" dirty="0"/>
                    </a:p>
                  </a:txBody>
                  <a:tcPr>
                    <a:lnL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38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5F0E8"/>
                          </a:solidFill>
                        </a:rPr>
                        <a:t>/api/events</a:t>
                      </a:r>
                      <a:endParaRPr lang="en-US" sz="900" dirty="0"/>
                    </a:p>
                  </a:txBody>
                  <a:tcPr>
                    <a:lnL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38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5F0E8"/>
                          </a:solidFill>
                        </a:rPr>
                        <a:t>200 OK</a:t>
                      </a:r>
                      <a:endParaRPr lang="en-US" sz="900" dirty="0"/>
                    </a:p>
                  </a:txBody>
                  <a:tcPr>
                    <a:lnL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38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5F0E8"/>
                          </a:solidFill>
                        </a:rPr>
                        <a:t>Returns all events</a:t>
                      </a:r>
                      <a:endParaRPr lang="en-US" sz="900" dirty="0"/>
                    </a:p>
                  </a:txBody>
                  <a:tcPr>
                    <a:lnL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38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5F0E8"/>
                          </a:solidFill>
                        </a:rPr>
                        <a:t>GET</a:t>
                      </a:r>
                      <a:endParaRPr lang="en-US" sz="900" dirty="0"/>
                    </a:p>
                  </a:txBody>
                  <a:tcPr>
                    <a:lnL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38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5F0E8"/>
                          </a:solidFill>
                        </a:rPr>
                        <a:t>/api/events/{id}</a:t>
                      </a:r>
                      <a:endParaRPr lang="en-US" sz="900" dirty="0"/>
                    </a:p>
                  </a:txBody>
                  <a:tcPr>
                    <a:lnL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38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5F0E8"/>
                          </a:solidFill>
                        </a:rPr>
                        <a:t>200/404</a:t>
                      </a:r>
                      <a:endParaRPr lang="en-US" sz="900" dirty="0"/>
                    </a:p>
                  </a:txBody>
                  <a:tcPr>
                    <a:lnL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38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5F0E8"/>
                          </a:solidFill>
                        </a:rPr>
                        <a:t>Get one event by ID</a:t>
                      </a:r>
                      <a:endParaRPr lang="en-US" sz="900" dirty="0"/>
                    </a:p>
                  </a:txBody>
                  <a:tcPr>
                    <a:lnL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38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5F0E8"/>
                          </a:solidFill>
                        </a:rPr>
                        <a:t>GET</a:t>
                      </a:r>
                      <a:endParaRPr lang="en-US" sz="900" dirty="0"/>
                    </a:p>
                  </a:txBody>
                  <a:tcPr>
                    <a:lnL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38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5F0E8"/>
                          </a:solidFill>
                        </a:rPr>
                        <a:t>/api/events/search?title=</a:t>
                      </a:r>
                      <a:endParaRPr lang="en-US" sz="900" dirty="0"/>
                    </a:p>
                  </a:txBody>
                  <a:tcPr>
                    <a:lnL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38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5F0E8"/>
                          </a:solidFill>
                        </a:rPr>
                        <a:t>200 OK</a:t>
                      </a:r>
                      <a:endParaRPr lang="en-US" sz="900" dirty="0"/>
                    </a:p>
                  </a:txBody>
                  <a:tcPr>
                    <a:lnL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38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5F0E8"/>
                          </a:solidFill>
                        </a:rPr>
                        <a:t>Search by title (LIKE)</a:t>
                      </a:r>
                      <a:endParaRPr lang="en-US" sz="900" dirty="0"/>
                    </a:p>
                  </a:txBody>
                  <a:tcPr>
                    <a:lnL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38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5F0E8"/>
                          </a:solidFill>
                        </a:rPr>
                        <a:t>POST</a:t>
                      </a:r>
                      <a:endParaRPr lang="en-US" sz="900" dirty="0"/>
                    </a:p>
                  </a:txBody>
                  <a:tcPr>
                    <a:lnL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38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5F0E8"/>
                          </a:solidFill>
                        </a:rPr>
                        <a:t>/api/events</a:t>
                      </a:r>
                      <a:endParaRPr lang="en-US" sz="900" dirty="0"/>
                    </a:p>
                  </a:txBody>
                  <a:tcPr>
                    <a:lnL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38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5F0E8"/>
                          </a:solidFill>
                        </a:rPr>
                        <a:t>201/400</a:t>
                      </a:r>
                      <a:endParaRPr lang="en-US" sz="900" dirty="0"/>
                    </a:p>
                  </a:txBody>
                  <a:tcPr>
                    <a:lnL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38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5F0E8"/>
                          </a:solidFill>
                        </a:rPr>
                        <a:t>Create new event</a:t>
                      </a:r>
                      <a:endParaRPr lang="en-US" sz="900" dirty="0"/>
                    </a:p>
                  </a:txBody>
                  <a:tcPr>
                    <a:lnL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38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5F0E8"/>
                          </a:solidFill>
                        </a:rPr>
                        <a:t>PUT</a:t>
                      </a:r>
                      <a:endParaRPr lang="en-US" sz="900" dirty="0"/>
                    </a:p>
                  </a:txBody>
                  <a:tcPr>
                    <a:lnL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38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5F0E8"/>
                          </a:solidFill>
                        </a:rPr>
                        <a:t>/api/events/{id}</a:t>
                      </a:r>
                      <a:endParaRPr lang="en-US" sz="900" dirty="0"/>
                    </a:p>
                  </a:txBody>
                  <a:tcPr>
                    <a:lnL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38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5F0E8"/>
                          </a:solidFill>
                        </a:rPr>
                        <a:t>200/404</a:t>
                      </a:r>
                      <a:endParaRPr lang="en-US" sz="900" dirty="0"/>
                    </a:p>
                  </a:txBody>
                  <a:tcPr>
                    <a:lnL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38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5F0E8"/>
                          </a:solidFill>
                        </a:rPr>
                        <a:t>Update existing event</a:t>
                      </a:r>
                      <a:endParaRPr lang="en-US" sz="900" dirty="0"/>
                    </a:p>
                  </a:txBody>
                  <a:tcPr>
                    <a:lnL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38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5F0E8"/>
                          </a:solidFill>
                        </a:rPr>
                        <a:t>DELETE</a:t>
                      </a:r>
                      <a:endParaRPr lang="en-US" sz="900" dirty="0"/>
                    </a:p>
                  </a:txBody>
                  <a:tcPr>
                    <a:lnL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38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5F0E8"/>
                          </a:solidFill>
                        </a:rPr>
                        <a:t>/api/events/{id}</a:t>
                      </a:r>
                      <a:endParaRPr lang="en-US" sz="900" dirty="0"/>
                    </a:p>
                  </a:txBody>
                  <a:tcPr>
                    <a:lnL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38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5F0E8"/>
                          </a:solidFill>
                        </a:rPr>
                        <a:t>204/404</a:t>
                      </a:r>
                      <a:endParaRPr lang="en-US" sz="900" dirty="0"/>
                    </a:p>
                  </a:txBody>
                  <a:tcPr>
                    <a:lnL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38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5F0E8"/>
                          </a:solidFill>
                        </a:rPr>
                        <a:t>Delete event by ID</a:t>
                      </a:r>
                      <a:endParaRPr lang="en-US" sz="900" dirty="0"/>
                    </a:p>
                  </a:txBody>
                  <a:tcPr>
                    <a:lnL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38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4846320" y="240944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/api/comments  (Khaleel Hassan)</a:t>
            </a:r>
            <a:endParaRPr lang="en-US" sz="1200" dirty="0"/>
          </a:p>
        </p:txBody>
      </p:sp>
      <p:graphicFrame>
        <p:nvGraphicFramePr>
          <p:cNvPr id="28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0227410"/>
              </p:ext>
            </p:extLst>
          </p:nvPr>
        </p:nvGraphicFramePr>
        <p:xfrm>
          <a:off x="4617720" y="2683764"/>
          <a:ext cx="3840480" cy="2423160"/>
        </p:xfrm>
        <a:graphic>
          <a:graphicData uri="http://schemas.openxmlformats.org/drawingml/2006/table">
            <a:tbl>
              <a:tblPr/>
              <a:tblGrid>
                <a:gridCol w="6583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61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Method</a:t>
                      </a:r>
                      <a:endParaRPr lang="en-US" sz="900" dirty="0"/>
                    </a:p>
                  </a:txBody>
                  <a:tcPr>
                    <a:lnL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Endpoint</a:t>
                      </a:r>
                      <a:endParaRPr lang="en-US" sz="900" dirty="0"/>
                    </a:p>
                  </a:txBody>
                  <a:tcPr>
                    <a:lnL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900" dirty="0"/>
                    </a:p>
                  </a:txBody>
                  <a:tcPr>
                    <a:lnL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900" dirty="0"/>
                    </a:p>
                  </a:txBody>
                  <a:tcPr>
                    <a:lnL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4F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5F0E8"/>
                          </a:solidFill>
                        </a:rPr>
                        <a:t>GET</a:t>
                      </a:r>
                      <a:endParaRPr lang="en-US" sz="900" dirty="0"/>
                    </a:p>
                  </a:txBody>
                  <a:tcPr>
                    <a:lnL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38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5F0E8"/>
                          </a:solidFill>
                        </a:rPr>
                        <a:t>/api/comments</a:t>
                      </a:r>
                      <a:endParaRPr lang="en-US" sz="900" dirty="0"/>
                    </a:p>
                  </a:txBody>
                  <a:tcPr>
                    <a:lnL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38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5F0E8"/>
                          </a:solidFill>
                        </a:rPr>
                        <a:t>200 OK</a:t>
                      </a:r>
                      <a:endParaRPr lang="en-US" sz="900" dirty="0"/>
                    </a:p>
                  </a:txBody>
                  <a:tcPr>
                    <a:lnL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38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5F0E8"/>
                          </a:solidFill>
                        </a:rPr>
                        <a:t>Returns all comments</a:t>
                      </a:r>
                      <a:endParaRPr lang="en-US" sz="900" dirty="0"/>
                    </a:p>
                  </a:txBody>
                  <a:tcPr>
                    <a:lnL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38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5F0E8"/>
                          </a:solidFill>
                        </a:rPr>
                        <a:t>GET</a:t>
                      </a:r>
                      <a:endParaRPr lang="en-US" sz="900" dirty="0"/>
                    </a:p>
                  </a:txBody>
                  <a:tcPr>
                    <a:lnL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38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5F0E8"/>
                          </a:solidFill>
                        </a:rPr>
                        <a:t>/api/comments/{id}</a:t>
                      </a:r>
                      <a:endParaRPr lang="en-US" sz="900" dirty="0"/>
                    </a:p>
                  </a:txBody>
                  <a:tcPr>
                    <a:lnL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38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5F0E8"/>
                          </a:solidFill>
                        </a:rPr>
                        <a:t>200/404</a:t>
                      </a:r>
                      <a:endParaRPr lang="en-US" sz="900" dirty="0"/>
                    </a:p>
                  </a:txBody>
                  <a:tcPr>
                    <a:lnL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38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5F0E8"/>
                          </a:solidFill>
                        </a:rPr>
                        <a:t>Get one comment by ID</a:t>
                      </a:r>
                      <a:endParaRPr lang="en-US" sz="900" dirty="0"/>
                    </a:p>
                  </a:txBody>
                  <a:tcPr>
                    <a:lnL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38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5F0E8"/>
                          </a:solidFill>
                        </a:rPr>
                        <a:t>GET</a:t>
                      </a:r>
                      <a:endParaRPr lang="en-US" sz="900" dirty="0"/>
                    </a:p>
                  </a:txBody>
                  <a:tcPr>
                    <a:lnL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38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5F0E8"/>
                          </a:solidFill>
                        </a:rPr>
                        <a:t>/api/comments/search?content=</a:t>
                      </a:r>
                      <a:endParaRPr lang="en-US" sz="900" dirty="0"/>
                    </a:p>
                  </a:txBody>
                  <a:tcPr>
                    <a:lnL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38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5F0E8"/>
                          </a:solidFill>
                        </a:rPr>
                        <a:t>200 OK</a:t>
                      </a:r>
                      <a:endParaRPr lang="en-US" sz="900" dirty="0"/>
                    </a:p>
                  </a:txBody>
                  <a:tcPr>
                    <a:lnL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38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5F0E8"/>
                          </a:solidFill>
                        </a:rPr>
                        <a:t>Search by content (LIKE)</a:t>
                      </a:r>
                      <a:endParaRPr lang="en-US" sz="900" dirty="0"/>
                    </a:p>
                  </a:txBody>
                  <a:tcPr>
                    <a:lnL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38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5F0E8"/>
                          </a:solidFill>
                        </a:rPr>
                        <a:t>POST</a:t>
                      </a:r>
                      <a:endParaRPr lang="en-US" sz="900" dirty="0"/>
                    </a:p>
                  </a:txBody>
                  <a:tcPr>
                    <a:lnL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38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5F0E8"/>
                          </a:solidFill>
                        </a:rPr>
                        <a:t>/api/comments</a:t>
                      </a:r>
                      <a:endParaRPr lang="en-US" sz="900" dirty="0"/>
                    </a:p>
                  </a:txBody>
                  <a:tcPr>
                    <a:lnL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38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5F0E8"/>
                          </a:solidFill>
                        </a:rPr>
                        <a:t>201/400</a:t>
                      </a:r>
                      <a:endParaRPr lang="en-US" sz="900" dirty="0"/>
                    </a:p>
                  </a:txBody>
                  <a:tcPr>
                    <a:lnL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38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5F0E8"/>
                          </a:solidFill>
                        </a:rPr>
                        <a:t>Create new comment</a:t>
                      </a:r>
                      <a:endParaRPr lang="en-US" sz="900" dirty="0"/>
                    </a:p>
                  </a:txBody>
                  <a:tcPr>
                    <a:lnL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38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5F0E8"/>
                          </a:solidFill>
                        </a:rPr>
                        <a:t>PUT</a:t>
                      </a:r>
                      <a:endParaRPr lang="en-US" sz="900" dirty="0"/>
                    </a:p>
                  </a:txBody>
                  <a:tcPr>
                    <a:lnL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38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5F0E8"/>
                          </a:solidFill>
                        </a:rPr>
                        <a:t>/api/comments/{id}</a:t>
                      </a:r>
                      <a:endParaRPr lang="en-US" sz="900" dirty="0"/>
                    </a:p>
                  </a:txBody>
                  <a:tcPr>
                    <a:lnL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38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5F0E8"/>
                          </a:solidFill>
                        </a:rPr>
                        <a:t>200/404</a:t>
                      </a:r>
                      <a:endParaRPr lang="en-US" sz="900" dirty="0"/>
                    </a:p>
                  </a:txBody>
                  <a:tcPr>
                    <a:lnL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38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5F0E8"/>
                          </a:solidFill>
                        </a:rPr>
                        <a:t>Update existing comment</a:t>
                      </a:r>
                      <a:endParaRPr lang="en-US" sz="900" dirty="0"/>
                    </a:p>
                  </a:txBody>
                  <a:tcPr>
                    <a:lnL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38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5F0E8"/>
                          </a:solidFill>
                        </a:rPr>
                        <a:t>DELETE</a:t>
                      </a:r>
                      <a:endParaRPr lang="en-US" sz="900" dirty="0"/>
                    </a:p>
                  </a:txBody>
                  <a:tcPr>
                    <a:lnL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38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5F0E8"/>
                          </a:solidFill>
                        </a:rPr>
                        <a:t>/api/comments/{id}</a:t>
                      </a:r>
                      <a:endParaRPr lang="en-US" sz="900" dirty="0"/>
                    </a:p>
                  </a:txBody>
                  <a:tcPr>
                    <a:lnL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38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5F0E8"/>
                          </a:solidFill>
                        </a:rPr>
                        <a:t>204/404</a:t>
                      </a:r>
                      <a:endParaRPr lang="en-US" sz="900" dirty="0"/>
                    </a:p>
                  </a:txBody>
                  <a:tcPr>
                    <a:lnL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38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5F0E8"/>
                          </a:solidFill>
                        </a:rPr>
                        <a:t>Delete comment by ID</a:t>
                      </a:r>
                      <a:endParaRPr lang="en-US" sz="900" dirty="0"/>
                    </a:p>
                  </a:txBody>
                  <a:tcPr>
                    <a:lnL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4D38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38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GIT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 Contributions &amp; Git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2651760" cy="3383280"/>
          </a:xfrm>
          <a:prstGeom prst="rect">
            <a:avLst/>
          </a:prstGeom>
          <a:solidFill>
            <a:srgbClr val="3D2B1F"/>
          </a:solidFill>
          <a:ln w="15240">
            <a:solidFill>
              <a:srgbClr val="C9A96E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5" name="Text 3"/>
          <p:cNvSpPr/>
          <p:nvPr/>
        </p:nvSpPr>
        <p:spPr>
          <a:xfrm>
            <a:off x="566928" y="1389888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Aditya Avinash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1682496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761005899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" y="1956816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Student.java entity + StudentRepository (5+ methods)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66928" y="2432304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StudentService (@Transactional) + StudentController (6 endpoints)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66928" y="290779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StudentDataSeeder – @PostConstruct seeds 5 students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66928" y="338328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students.html – real-time search, modal, toasts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66928" y="3858768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 – landing page with Browse &amp; Quick Add cards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66928" y="4334256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application.properties, pom.xml, MainService fix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91840" y="1298448"/>
            <a:ext cx="2651760" cy="3383280"/>
          </a:xfrm>
          <a:prstGeom prst="rect">
            <a:avLst/>
          </a:prstGeom>
          <a:solidFill>
            <a:srgbClr val="3D2B1F"/>
          </a:solidFill>
          <a:ln w="15240">
            <a:solidFill>
              <a:srgbClr val="C9A96E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4" name="Text 12"/>
          <p:cNvSpPr/>
          <p:nvPr/>
        </p:nvSpPr>
        <p:spPr>
          <a:xfrm>
            <a:off x="3401568" y="1389888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Harsh Bhatia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01568" y="1682496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400003132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401568" y="1956816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Event.java entity + EventRepository (5+ methods incl. JPQL)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401568" y="2432304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EventService (@Transactional) + EventController (6 endpoints)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401568" y="290779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events.html – search, status badges, support count, modal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401568" y="338328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EventDataSeeder – seeds initial events on startup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401568" y="3858768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logic: status auto-updates on support count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126480" y="1298448"/>
            <a:ext cx="2651760" cy="3383280"/>
          </a:xfrm>
          <a:prstGeom prst="rect">
            <a:avLst/>
          </a:prstGeom>
          <a:solidFill>
            <a:srgbClr val="3D2B1F"/>
          </a:solidFill>
          <a:ln w="15240">
            <a:solidFill>
              <a:srgbClr val="C9A96E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2" name="Text 20"/>
          <p:cNvSpPr/>
          <p:nvPr/>
        </p:nvSpPr>
        <p:spPr>
          <a:xfrm>
            <a:off x="6236208" y="1389888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Khaleel Hassan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36208" y="1682496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412002594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236208" y="1956816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Comment.java entity + CommentRepository (5+ methods)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236208" y="2432304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CommentService (@Transactional) + CommentController (6 endpoints)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236208" y="290779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comments.html – filter by event, search, CRUD modal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236208" y="338328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Manager – reviewed &amp; merged all PRs into main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236208" y="3858768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setup, branch strategy coordination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solidFill>
            <a:srgbClr val="6B4F35"/>
          </a:solidFill>
          <a:ln w="15240">
            <a:solidFill>
              <a:srgbClr val="6B4F3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0" name="Text 28"/>
          <p:cNvSpPr/>
          <p:nvPr/>
        </p:nvSpPr>
        <p:spPr>
          <a:xfrm>
            <a:off x="548640" y="4800600"/>
            <a:ext cx="80467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Strategy: each student → own feature branch  •  Merge Manager: Khaleel Hassan  •  Min. 6 commits per member  •  PRs used for all merges  •  Repo URL: </a:t>
            </a: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https://github.com/kgh6265/iste240-team6.git</a:t>
            </a: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D2B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6B4F35"/>
          </a:solidFill>
          <a:ln w="12700">
            <a:solidFill>
              <a:srgbClr val="6B4F3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502920" y="0"/>
            <a:ext cx="109728" cy="514350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914400" y="8229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dirty="0">
                <a:solidFill>
                  <a:srgbClr val="000000"/>
                </a:solidFill>
              </a:rPr>
              <a:t>🎬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914400" y="16002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Demo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914400" y="251460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navigation cards and Quick Add shortcuts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944368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page full CRUD: Add, Edit, Delete, Search (Aditya)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37413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page full CRUD, status badges, support count (Harsh)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380390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 page filter by event, search, CRUD (Khaleel)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423367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DE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responses network tab showing JSON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D2B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6B4F35"/>
          </a:solidFill>
          <a:ln w="12700">
            <a:solidFill>
              <a:srgbClr val="6B4F35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502920" y="0"/>
            <a:ext cx="109728" cy="514350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914400" y="73152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914400" y="16002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i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Answers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914400" y="2377440"/>
            <a:ext cx="7589520" cy="521208"/>
          </a:xfrm>
          <a:prstGeom prst="rect">
            <a:avLst/>
          </a:prstGeom>
          <a:solidFill>
            <a:srgbClr val="6B4F35"/>
          </a:solidFill>
          <a:ln w="1524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7" name="Text 5"/>
          <p:cNvSpPr/>
          <p:nvPr/>
        </p:nvSpPr>
        <p:spPr>
          <a:xfrm>
            <a:off x="1005840" y="2404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08760" y="243230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StudentPulse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508760" y="2670048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event management platform for RIT Dubai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14400" y="2999232"/>
            <a:ext cx="7589520" cy="521208"/>
          </a:xfrm>
          <a:prstGeom prst="rect">
            <a:avLst/>
          </a:prstGeom>
          <a:solidFill>
            <a:srgbClr val="6B4F35"/>
          </a:solidFill>
          <a:ln w="1524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" name="Text 9"/>
          <p:cNvSpPr/>
          <p:nvPr/>
        </p:nvSpPr>
        <p:spPr>
          <a:xfrm>
            <a:off x="1005840" y="3026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⚙️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08760" y="305409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 + MariaDB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508760" y="3291840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JPA/Hibernate backend with REST APIs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14400" y="3621024"/>
            <a:ext cx="7589520" cy="521208"/>
          </a:xfrm>
          <a:prstGeom prst="rect">
            <a:avLst/>
          </a:prstGeom>
          <a:solidFill>
            <a:srgbClr val="6B4F35"/>
          </a:solidFill>
          <a:ln w="1524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5" name="Text 13"/>
          <p:cNvSpPr/>
          <p:nvPr/>
        </p:nvSpPr>
        <p:spPr>
          <a:xfrm>
            <a:off x="1005840" y="3648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🖥️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508760" y="367588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 + jQuery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508760" y="3913632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Responsive, no-reload frontend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14400" y="4242816"/>
            <a:ext cx="7589520" cy="521208"/>
          </a:xfrm>
          <a:prstGeom prst="rect">
            <a:avLst/>
          </a:prstGeom>
          <a:solidFill>
            <a:srgbClr val="6B4F35"/>
          </a:solidFill>
          <a:ln w="15240">
            <a:solidFill>
              <a:srgbClr val="C9A96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9" name="Text 17"/>
          <p:cNvSpPr/>
          <p:nvPr/>
        </p:nvSpPr>
        <p:spPr>
          <a:xfrm>
            <a:off x="1005840" y="4270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👥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508760" y="42976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Independent Modules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508760" y="4535424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· Event · Comment each per-student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14400" y="475488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B8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6  •  ISTE 240  •  Spring 2026  •  RIT Dubai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1688</Words>
  <Application>Microsoft Macintosh PowerPoint</Application>
  <PresentationFormat>On-screen Show (16:9)</PresentationFormat>
  <Paragraphs>340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StudentPulse – Final Presentation</dc:title>
  <dc:subject>PptxGenJS Presentation</dc:subject>
  <dc:creator>Aditya Avinash, Khaleel Hassan, Harsh Bhatia</dc:creator>
  <cp:lastModifiedBy>Aditya Avinash</cp:lastModifiedBy>
  <cp:revision>3</cp:revision>
  <dcterms:created xsi:type="dcterms:W3CDTF">2026-04-26T19:41:57Z</dcterms:created>
  <dcterms:modified xsi:type="dcterms:W3CDTF">2026-04-26T19:52:50Z</dcterms:modified>
</cp:coreProperties>
</file>